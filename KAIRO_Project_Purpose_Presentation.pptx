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943600" cy="3657600"/>
          </a:xfrm>
          <a:prstGeom prst="rect">
            <a:avLst/>
          </a:prstGeom>
          <a:solidFill>
            <a:srgbClr val="101B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0" y="3200400"/>
            <a:ext cx="5394960" cy="3657600"/>
          </a:xfrm>
          <a:prstGeom prst="rect">
            <a:avLst/>
          </a:prstGeom>
          <a:solidFill>
            <a:srgbClr val="07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80015" y="0"/>
            <a:ext cx="2011680" cy="508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185855" y="0"/>
            <a:ext cx="1005840" cy="1143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807200"/>
            <a:ext cx="1645920" cy="508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731000"/>
            <a:ext cx="731520" cy="762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0800" cy="41148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1463040"/>
            <a:ext cx="3474720" cy="301752"/>
          </a:xfrm>
          <a:prstGeom prst="roundRect">
            <a:avLst/>
          </a:prstGeom>
          <a:solidFill>
            <a:srgbClr val="071F2A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defRPr sz="850" b="1">
                <a:solidFill>
                  <a:srgbClr val="2DD4BF"/>
                </a:solidFill>
              </a:defRPr>
            </a:pPr>
            <a:r>
              <a:t>ENGINEERING INTELLIGENCE PLATFORM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874519"/>
            <a:ext cx="7772400" cy="12344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7200" b="1">
                <a:solidFill>
                  <a:srgbClr val="F8FAFC"/>
                </a:solidFill>
              </a:defRPr>
            </a:pPr>
            <a:r>
              <a:t>KAIRO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200400"/>
            <a:ext cx="868680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700" b="0">
                <a:solidFill>
                  <a:srgbClr val="2DD4BF"/>
                </a:solidFill>
              </a:defRPr>
            </a:pPr>
            <a:r>
              <a:t>A Temporal Knowledge Graph Based Engineering Intelligence Platform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749039"/>
            <a:ext cx="8686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>
                <a:solidFill>
                  <a:srgbClr val="94A3B8"/>
                </a:solidFill>
              </a:defRPr>
            </a:pPr>
            <a:r>
              <a:t>Reconstructing and preserving architectural memory across commits, pull requests, and design decisions to eliminate undocumented decision drift.</a:t>
            </a:r>
          </a:p>
        </p:txBody>
      </p:sp>
      <p:sp>
        <p:nvSpPr>
          <p:cNvPr id="14" name="Oval 13"/>
          <p:cNvSpPr/>
          <p:nvPr/>
        </p:nvSpPr>
        <p:spPr>
          <a:xfrm>
            <a:off x="9601200" y="731520"/>
            <a:ext cx="2377440" cy="2377440"/>
          </a:xfrm>
          <a:prstGeom prst="ellipse">
            <a:avLst/>
          </a:prstGeom>
          <a:solidFill>
            <a:srgbClr val="0D2B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966960" y="1097280"/>
            <a:ext cx="1645920" cy="1645920"/>
          </a:xfrm>
          <a:prstGeom prst="ellipse">
            <a:avLst/>
          </a:prstGeom>
          <a:solidFill>
            <a:srgbClr val="1140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966960" y="1097280"/>
            <a:ext cx="1645920" cy="1645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5400" b="1">
                <a:solidFill>
                  <a:srgbClr val="2DD4BF"/>
                </a:solidFill>
              </a:defRPr>
            </a:pPr>
            <a:r>
              <a:t>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370832"/>
            <a:ext cx="10716768" cy="127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31520" y="4480560"/>
            <a:ext cx="10716768" cy="16002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250" b="1">
                <a:solidFill>
                  <a:srgbClr val="F8FAFC"/>
                </a:solidFill>
              </a:defRPr>
            </a:pPr>
            <a:r>
              <a:t>Team:  Sharvari Bhondekar   |   Aman Mehtar   |   Shruti Gauchandra</a:t>
            </a:r>
          </a:p>
          <a:p>
            <a:pPr>
              <a:spcBef>
                <a:spcPts val="500"/>
              </a:spcBef>
              <a:defRPr sz="1100">
                <a:solidFill>
                  <a:srgbClr val="38BDF8"/>
                </a:solidFill>
              </a:defRPr>
            </a:pPr>
            <a:r>
              <a:t>Mentors:  Prof. Kranti Gule   |   Dr. Tatwadarshi P. Nagarhalli (HOD)</a:t>
            </a:r>
          </a:p>
          <a:p>
            <a:pPr>
              <a:spcBef>
                <a:spcPts val="500"/>
              </a:spcBef>
              <a:defRPr sz="1000">
                <a:solidFill>
                  <a:srgbClr val="94A3B8"/>
                </a:solidFill>
              </a:defRPr>
            </a:pPr>
            <a:r>
              <a:t>Department of Artificial Intelligence &amp; Data Science  |  Vidyavardhini's College of Engineering and Technology (VCET)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6419088"/>
            <a:ext cx="10716768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6473952"/>
            <a:ext cx="10716768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800">
                <a:solidFill>
                  <a:srgbClr val="64748B"/>
                </a:solidFill>
              </a:defRPr>
            </a:pPr>
            <a:r>
              <a:t>KAIRO  |  Temporal Knowledge Graph Engineering Intelligence Platform  |  Slide 1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943600" cy="3657600"/>
          </a:xfrm>
          <a:prstGeom prst="rect">
            <a:avLst/>
          </a:prstGeom>
          <a:solidFill>
            <a:srgbClr val="101B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0" y="3200400"/>
            <a:ext cx="5394960" cy="3657600"/>
          </a:xfrm>
          <a:prstGeom prst="rect">
            <a:avLst/>
          </a:prstGeom>
          <a:solidFill>
            <a:srgbClr val="07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80015" y="0"/>
            <a:ext cx="2011680" cy="508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185855" y="0"/>
            <a:ext cx="1005840" cy="1143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807200"/>
            <a:ext cx="1645920" cy="508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731000"/>
            <a:ext cx="731520" cy="762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502920"/>
            <a:ext cx="2651760" cy="274320"/>
          </a:xfrm>
          <a:prstGeom prst="roundRect">
            <a:avLst/>
          </a:prstGeom>
          <a:solidFill>
            <a:srgbClr val="0B242E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defRPr sz="800" b="1">
                <a:solidFill>
                  <a:srgbClr val="F43F5E"/>
                </a:solidFill>
              </a:defRPr>
            </a:pPr>
            <a:r>
              <a:t>INDUSTRY CHALLENGE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841248"/>
            <a:ext cx="10716768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F8FAFC"/>
                </a:solidFill>
              </a:defRPr>
            </a:pPr>
            <a:r>
              <a:t>The Critical Problem: Engineering Memory Vaporization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435608"/>
            <a:ext cx="10716768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Why modern software engineering teams lose architectural context over time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1828800"/>
            <a:ext cx="10716768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31520" y="1938528"/>
            <a:ext cx="3328416" cy="420624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7720" y="2014728"/>
            <a:ext cx="3176016" cy="381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2121408"/>
            <a:ext cx="292608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750" b="1">
                <a:solidFill>
                  <a:srgbClr val="6366F1"/>
                </a:solidFill>
              </a:defRPr>
            </a:pPr>
            <a:r>
              <a:t>SILOED INFORMATION</a:t>
            </a:r>
          </a:p>
          <a:p>
            <a:pPr>
              <a:spcAft>
                <a:spcPts val="600"/>
              </a:spcAft>
              <a:defRPr sz="1300" b="1">
                <a:solidFill>
                  <a:srgbClr val="F8FAFC"/>
                </a:solidFill>
              </a:defRPr>
            </a:pPr>
            <a:r>
              <a:t>Tool Fragmentation</a:t>
            </a:r>
          </a:p>
          <a:p>
            <a:pPr>
              <a:spcAft>
                <a:spcPts val="200"/>
              </a:spcAft>
            </a:pPr>
          </a:p>
          <a:p>
            <a:pPr>
              <a:spcAft>
                <a:spcPts val="400"/>
              </a:spcAft>
              <a:defRPr sz="1000">
                <a:solidFill>
                  <a:srgbClr val="94A3B8"/>
                </a:solidFill>
              </a:defRPr>
            </a:pPr>
            <a:r>
              <a:t>  Teams use fragmented tools: GitHub, Jira, Slack, wikis, PR threads.</a:t>
            </a:r>
          </a:p>
          <a:p>
            <a:pPr>
              <a:spcAft>
                <a:spcPts val="400"/>
              </a:spcAft>
              <a:defRPr sz="1000">
                <a:solidFill>
                  <a:srgbClr val="94A3B8"/>
                </a:solidFill>
              </a:defRPr>
            </a:pPr>
            <a:r>
              <a:t>  These systems track task status but never preserve why decisions were made.</a:t>
            </a:r>
          </a:p>
          <a:p>
            <a:pPr>
              <a:spcAft>
                <a:spcPts val="400"/>
              </a:spcAft>
              <a:defRPr sz="1000">
                <a:solidFill>
                  <a:srgbClr val="94A3B8"/>
                </a:solidFill>
              </a:defRPr>
            </a:pPr>
            <a:r>
              <a:t>  When original engineers leave, critical institutional memory vanishes.</a:t>
            </a:r>
          </a:p>
          <a:p>
            <a:pPr>
              <a:spcAft>
                <a:spcPts val="400"/>
              </a:spcAft>
              <a:defRPr sz="1000">
                <a:solidFill>
                  <a:srgbClr val="94A3B8"/>
                </a:solidFill>
              </a:defRPr>
            </a:pPr>
            <a:r>
              <a:t>  New engineers inherit codebases with zero verifiable context on trade-offs.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25696" y="1938528"/>
            <a:ext cx="3328416" cy="420624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01896" y="2014728"/>
            <a:ext cx="3176016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26864" y="2121408"/>
            <a:ext cx="292608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750" b="1">
                <a:solidFill>
                  <a:srgbClr val="F59E0B"/>
                </a:solidFill>
              </a:defRPr>
            </a:pPr>
            <a:r>
              <a:t>SILENT DIVERGENCE</a:t>
            </a:r>
          </a:p>
          <a:p>
            <a:pPr>
              <a:spcAft>
                <a:spcPts val="600"/>
              </a:spcAft>
              <a:defRPr sz="1300" b="1">
                <a:solidFill>
                  <a:srgbClr val="F8FAFC"/>
                </a:solidFill>
              </a:defRPr>
            </a:pPr>
            <a:r>
              <a:t>Invisible Decision Drift</a:t>
            </a:r>
          </a:p>
          <a:p>
            <a:pPr>
              <a:spcAft>
                <a:spcPts val="200"/>
              </a:spcAft>
            </a:pPr>
          </a:p>
          <a:p>
            <a:pPr>
              <a:spcAft>
                <a:spcPts val="400"/>
              </a:spcAft>
              <a:defRPr sz="1000">
                <a:solidFill>
                  <a:srgbClr val="94A3B8"/>
                </a:solidFill>
              </a:defRPr>
            </a:pPr>
            <a:r>
              <a:t>  Documented architecture and live codebases continuously drift apart.</a:t>
            </a:r>
          </a:p>
          <a:p>
            <a:pPr>
              <a:spcAft>
                <a:spcPts val="400"/>
              </a:spcAft>
              <a:defRPr sz="1000">
                <a:solidFill>
                  <a:srgbClr val="94A3B8"/>
                </a:solidFill>
              </a:defRPr>
            </a:pPr>
            <a:r>
              <a:t>  Pull requests inadvertently violate foundational architectural decisions (ADRs).</a:t>
            </a:r>
          </a:p>
          <a:p>
            <a:pPr>
              <a:spcAft>
                <a:spcPts val="400"/>
              </a:spcAft>
              <a:defRPr sz="1000">
                <a:solidFill>
                  <a:srgbClr val="94A3B8"/>
                </a:solidFill>
              </a:defRPr>
            </a:pPr>
            <a:r>
              <a:t>  Technical debt accumulates silently until massive regressions occur.</a:t>
            </a:r>
          </a:p>
          <a:p>
            <a:pPr>
              <a:spcAft>
                <a:spcPts val="400"/>
              </a:spcAft>
              <a:defRPr sz="1000">
                <a:solidFill>
                  <a:srgbClr val="94A3B8"/>
                </a:solidFill>
              </a:defRPr>
            </a:pPr>
            <a:r>
              <a:t>  No objective mathematical index exists to measure architectural drift.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19872" y="1938528"/>
            <a:ext cx="3328416" cy="420624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96072" y="2014728"/>
            <a:ext cx="3176016" cy="381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2121408"/>
            <a:ext cx="292608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750" b="1">
                <a:solidFill>
                  <a:srgbClr val="F43F5E"/>
                </a:solidFill>
              </a:defRPr>
            </a:pPr>
            <a:r>
              <a:t>RAG LIMITATION</a:t>
            </a:r>
          </a:p>
          <a:p>
            <a:pPr>
              <a:spcAft>
                <a:spcPts val="600"/>
              </a:spcAft>
              <a:defRPr sz="1300" b="1">
                <a:solidFill>
                  <a:srgbClr val="F8FAFC"/>
                </a:solidFill>
              </a:defRPr>
            </a:pPr>
            <a:r>
              <a:t>Temporal Blindness in AI</a:t>
            </a:r>
          </a:p>
          <a:p>
            <a:pPr>
              <a:spcAft>
                <a:spcPts val="200"/>
              </a:spcAft>
            </a:pPr>
          </a:p>
          <a:p>
            <a:pPr>
              <a:spcAft>
                <a:spcPts val="400"/>
              </a:spcAft>
              <a:defRPr sz="1000">
                <a:solidFill>
                  <a:srgbClr val="94A3B8"/>
                </a:solidFill>
              </a:defRPr>
            </a:pPr>
            <a:r>
              <a:t>  Standard Vector RAG retrieves code snippets by keyword similarity alone.</a:t>
            </a:r>
          </a:p>
          <a:p>
            <a:pPr>
              <a:spcAft>
                <a:spcPts val="400"/>
              </a:spcAft>
              <a:defRPr sz="1000">
                <a:solidFill>
                  <a:srgbClr val="94A3B8"/>
                </a:solidFill>
              </a:defRPr>
            </a:pPr>
            <a:r>
              <a:t>  Cannot distinguish an active architectural rule from a superseded 2021 choice.</a:t>
            </a:r>
          </a:p>
          <a:p>
            <a:pPr>
              <a:spcAft>
                <a:spcPts val="400"/>
              </a:spcAft>
              <a:defRPr sz="1000">
                <a:solidFill>
                  <a:srgbClr val="94A3B8"/>
                </a:solidFill>
              </a:defRPr>
            </a:pPr>
            <a:r>
              <a:t>  AI dev tools recommend obsolete practices as authoritative standards.</a:t>
            </a:r>
          </a:p>
          <a:p>
            <a:pPr>
              <a:spcAft>
                <a:spcPts val="400"/>
              </a:spcAft>
              <a:defRPr sz="1000">
                <a:solidFill>
                  <a:srgbClr val="94A3B8"/>
                </a:solidFill>
              </a:defRPr>
            </a:pPr>
            <a:r>
              <a:t>  Missing bitemporal intervals create high risk in AI-assisted coding.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6419088"/>
            <a:ext cx="10716768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6473952"/>
            <a:ext cx="10716768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800">
                <a:solidFill>
                  <a:srgbClr val="64748B"/>
                </a:solidFill>
              </a:defRPr>
            </a:pPr>
            <a:r>
              <a:t>KAIRO  |  Temporal Knowledge Graph Engineering Intelligence Platform  |  Slide 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943600" cy="3657600"/>
          </a:xfrm>
          <a:prstGeom prst="rect">
            <a:avLst/>
          </a:prstGeom>
          <a:solidFill>
            <a:srgbClr val="101B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0" y="3200400"/>
            <a:ext cx="5394960" cy="3657600"/>
          </a:xfrm>
          <a:prstGeom prst="rect">
            <a:avLst/>
          </a:prstGeom>
          <a:solidFill>
            <a:srgbClr val="07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80015" y="0"/>
            <a:ext cx="2011680" cy="508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185855" y="0"/>
            <a:ext cx="1005840" cy="1143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807200"/>
            <a:ext cx="1645920" cy="508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731000"/>
            <a:ext cx="731520" cy="762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502920"/>
            <a:ext cx="2651760" cy="274320"/>
          </a:xfrm>
          <a:prstGeom prst="roundRect">
            <a:avLst/>
          </a:prstGeom>
          <a:solidFill>
            <a:srgbClr val="0B242E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defRPr sz="800" b="1">
                <a:solidFill>
                  <a:srgbClr val="2DD4BF"/>
                </a:solidFill>
              </a:defRPr>
            </a:pPr>
            <a:r>
              <a:t>CORE MISSION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841248"/>
            <a:ext cx="10716768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F8FAFC"/>
                </a:solidFill>
              </a:defRPr>
            </a:pPr>
            <a:r>
              <a:t>Project Purpose: Why KAIRO Exists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435608"/>
            <a:ext cx="10716768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Building an authoritative, bitemporal engineering knowledge graph for software reasoning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1828800"/>
            <a:ext cx="10716768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31520" y="1920240"/>
            <a:ext cx="10716768" cy="960120"/>
          </a:xfrm>
          <a:prstGeom prst="roundRect">
            <a:avLst/>
          </a:prstGeom>
          <a:solidFill>
            <a:srgbClr val="0D3B38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09728" bIns="109728"/>
          <a:lstStyle/>
          <a:p>
            <a:pPr algn="ctr">
              <a:defRPr sz="900" b="1">
                <a:solidFill>
                  <a:srgbClr val="2DD4BF"/>
                </a:solidFill>
              </a:defRPr>
            </a:pPr>
            <a:r>
              <a:t>Mission Statement: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Transform unstructured developer telemetry into an active, verifiable bitemporal knowledge graph - enabling teams to query, track, and protect the architectural rationale of their codebases.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1920240"/>
            <a:ext cx="50800" cy="96012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" y="3063240"/>
            <a:ext cx="3328416" cy="306324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7720" y="3139440"/>
            <a:ext cx="3176016" cy="381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" y="3246120"/>
            <a:ext cx="2926080" cy="2788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750" b="1">
                <a:solidFill>
                  <a:srgbClr val="2DD4BF"/>
                </a:solidFill>
              </a:defRPr>
            </a:pPr>
            <a:r>
              <a:t>COGNITIVE MEMORY</a:t>
            </a:r>
          </a:p>
          <a:p>
            <a:pPr>
              <a:spcAft>
                <a:spcPts val="600"/>
              </a:spcAft>
              <a:defRPr sz="1300" b="1">
                <a:solidFill>
                  <a:srgbClr val="F8FAFC"/>
                </a:solidFill>
              </a:defRPr>
            </a:pPr>
            <a:r>
              <a:t>Reconstruct Reasoning</a:t>
            </a:r>
          </a:p>
          <a:p>
            <a:pPr>
              <a:spcAft>
                <a:spcPts val="200"/>
              </a:spcAft>
            </a:pP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  Mine commits, PR discussions, code reviews, and issue threads.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  Extract discrete architectural decisions with verbatim provenance quotes.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  Enable natural-language queries: 'Why did we choose JWT over Redis sessions?'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5696" y="3063240"/>
            <a:ext cx="3328416" cy="306324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01896" y="3139440"/>
            <a:ext cx="3176016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26864" y="3246120"/>
            <a:ext cx="2926080" cy="2788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750" b="1">
                <a:solidFill>
                  <a:srgbClr val="F59E0B"/>
                </a:solidFill>
              </a:defRPr>
            </a:pPr>
            <a:r>
              <a:t>PROACTIVE PROTECTION</a:t>
            </a:r>
          </a:p>
          <a:p>
            <a:pPr>
              <a:spcAft>
                <a:spcPts val="600"/>
              </a:spcAft>
              <a:defRPr sz="1300" b="1">
                <a:solidFill>
                  <a:srgbClr val="F8FAFC"/>
                </a:solidFill>
              </a:defRPr>
            </a:pPr>
            <a:r>
              <a:t>Pre-Merge Interception</a:t>
            </a:r>
          </a:p>
          <a:p>
            <a:pPr>
              <a:spcAft>
                <a:spcPts val="200"/>
              </a:spcAft>
            </a:pP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  Scan modified files in pending pull requests against the knowledge graph.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  Flag conflicts with documented architectural decisions before code merges.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  Prevent regressions caused by developer rotation and forgotten standards.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9872" y="3063240"/>
            <a:ext cx="3328416" cy="306324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96072" y="3139440"/>
            <a:ext cx="3176016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21040" y="3246120"/>
            <a:ext cx="2926080" cy="2788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750" b="1">
                <a:solidFill>
                  <a:srgbClr val="10B981"/>
                </a:solidFill>
              </a:defRPr>
            </a:pPr>
            <a:r>
              <a:t>VERIFIABLE GOVERNANCE</a:t>
            </a:r>
          </a:p>
          <a:p>
            <a:pPr>
              <a:spcAft>
                <a:spcPts val="600"/>
              </a:spcAft>
              <a:defRPr sz="1300" b="1">
                <a:solidFill>
                  <a:srgbClr val="F8FAFC"/>
                </a:solidFill>
              </a:defRPr>
            </a:pPr>
            <a:r>
              <a:t>Quantify Repository Health</a:t>
            </a:r>
          </a:p>
          <a:p>
            <a:pPr>
              <a:spcAft>
                <a:spcPts val="200"/>
              </a:spcAft>
            </a:pP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  Introduce mathematical metrics for architecture governance.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  Decision Drift Index (DDI) measures codebase divergence from intent.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  Engineering Evolution Score (EES) tracks stability, ownership, and risk.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6419088"/>
            <a:ext cx="10716768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6473952"/>
            <a:ext cx="10716768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800">
                <a:solidFill>
                  <a:srgbClr val="64748B"/>
                </a:solidFill>
              </a:defRPr>
            </a:pPr>
            <a:r>
              <a:t>KAIRO  |  Temporal Knowledge Graph Engineering Intelligence Platform  |  Slide 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943600" cy="3657600"/>
          </a:xfrm>
          <a:prstGeom prst="rect">
            <a:avLst/>
          </a:prstGeom>
          <a:solidFill>
            <a:srgbClr val="101B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0" y="3200400"/>
            <a:ext cx="5394960" cy="3657600"/>
          </a:xfrm>
          <a:prstGeom prst="rect">
            <a:avLst/>
          </a:prstGeom>
          <a:solidFill>
            <a:srgbClr val="07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80015" y="0"/>
            <a:ext cx="2011680" cy="508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185855" y="0"/>
            <a:ext cx="1005840" cy="1143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807200"/>
            <a:ext cx="1645920" cy="508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731000"/>
            <a:ext cx="731520" cy="762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502920"/>
            <a:ext cx="2651760" cy="274320"/>
          </a:xfrm>
          <a:prstGeom prst="roundRect">
            <a:avLst/>
          </a:prstGeom>
          <a:solidFill>
            <a:srgbClr val="0B242E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defRPr sz="800" b="1">
                <a:solidFill>
                  <a:srgbClr val="38BDF8"/>
                </a:solidFill>
              </a:defRPr>
            </a:pPr>
            <a:r>
              <a:t>ZERO-HALLUCINATION DESIGN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841248"/>
            <a:ext cx="10716768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F8FAFC"/>
                </a:solidFill>
              </a:defRPr>
            </a:pPr>
            <a:r>
              <a:t>Architectural Innovation: Two-Layer Trust Isolation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435608"/>
            <a:ext cx="10716768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Separating verifiable deterministic code facts from LLM-interpreted architectural decisions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1828800"/>
            <a:ext cx="10716768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31520" y="1938528"/>
            <a:ext cx="5166360" cy="420624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7720" y="2014728"/>
            <a:ext cx="501396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2121408"/>
            <a:ext cx="4764024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750" b="1">
                <a:solidFill>
                  <a:srgbClr val="38BDF8"/>
                </a:solidFill>
              </a:defRPr>
            </a:pPr>
            <a:r>
              <a:t>100% VERIFIABLE REALITY</a:t>
            </a:r>
          </a:p>
          <a:p>
            <a:pPr>
              <a:spcAft>
                <a:spcPts val="600"/>
              </a:spcAft>
              <a:defRPr sz="1400" b="1">
                <a:solidFill>
                  <a:srgbClr val="F8FAFC"/>
                </a:solidFill>
              </a:defRPr>
            </a:pPr>
            <a:r>
              <a:t>Layer 1: Deterministic Fact Graph</a:t>
            </a:r>
          </a:p>
          <a:p>
            <a:pPr>
              <a:spcAft>
                <a:spcPts val="200"/>
              </a:spcAft>
            </a:pP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  Strictly factual engineering telemetry synced directly from GitHub APIs.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  Entities: Repositories, Commits, Authors, Pull Requests, Files, Diffs.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  Zero LLM involvement - guarantees 100% fidelity and zero hallucination risk.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  Deterministic edge linking connects commits, authors, PRs, and files with precise timestamps.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  Ground truth anchor for all downstream graph walks and impact predictions.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61888" y="3566160"/>
            <a:ext cx="329184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2200" b="1">
                <a:solidFill>
                  <a:srgbClr val="14B8A6"/>
                </a:solidFill>
              </a:defRPr>
            </a:pPr>
            <a:r>
              <a:t>+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91072" y="1938528"/>
            <a:ext cx="5166360" cy="420624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67272" y="2014728"/>
            <a:ext cx="5013960" cy="381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2121408"/>
            <a:ext cx="4764024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750" b="1">
                <a:solidFill>
                  <a:srgbClr val="2DD4BF"/>
                </a:solidFill>
              </a:defRPr>
            </a:pPr>
            <a:r>
              <a:t>BITEMPORAL LLM REASONING</a:t>
            </a:r>
          </a:p>
          <a:p>
            <a:pPr>
              <a:spcAft>
                <a:spcPts val="600"/>
              </a:spcAft>
              <a:defRPr sz="1400" b="1">
                <a:solidFill>
                  <a:srgbClr val="F8FAFC"/>
                </a:solidFill>
              </a:defRPr>
            </a:pPr>
            <a:r>
              <a:t>Layer 2: Interpreted Decision Graph</a:t>
            </a:r>
          </a:p>
          <a:p>
            <a:pPr>
              <a:spcAft>
                <a:spcPts val="200"/>
              </a:spcAft>
            </a:pP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  Architectural decisions and rationale extracted via LLMs from PR discussions.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  Bitemporal Validity Intervals: Every decision carries Valid-Time and Transaction-Time.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  Verbatim Provenance Quotation: Extracted claims must quote exact PR comments.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  Superseding Graph Edges: New ADRs automatically retire outdated decision nodes.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  Confidence Scoring: Each decision carries an empirical verification score (e.g. 94%).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6419088"/>
            <a:ext cx="10716768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6473952"/>
            <a:ext cx="10716768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800">
                <a:solidFill>
                  <a:srgbClr val="64748B"/>
                </a:solidFill>
              </a:defRPr>
            </a:pPr>
            <a:r>
              <a:t>KAIRO  |  Temporal Knowledge Graph Engineering Intelligence Platform  |  Slide 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943600" cy="3657600"/>
          </a:xfrm>
          <a:prstGeom prst="rect">
            <a:avLst/>
          </a:prstGeom>
          <a:solidFill>
            <a:srgbClr val="101B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0" y="3200400"/>
            <a:ext cx="5394960" cy="3657600"/>
          </a:xfrm>
          <a:prstGeom prst="rect">
            <a:avLst/>
          </a:prstGeom>
          <a:solidFill>
            <a:srgbClr val="07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80015" y="0"/>
            <a:ext cx="2011680" cy="508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185855" y="0"/>
            <a:ext cx="1005840" cy="1143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807200"/>
            <a:ext cx="1645920" cy="508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731000"/>
            <a:ext cx="731520" cy="762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502920"/>
            <a:ext cx="2651760" cy="274320"/>
          </a:xfrm>
          <a:prstGeom prst="roundRect">
            <a:avLst/>
          </a:prstGeom>
          <a:solidFill>
            <a:srgbClr val="0B242E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defRPr sz="800" b="1">
                <a:solidFill>
                  <a:srgbClr val="2DD4BF"/>
                </a:solidFill>
              </a:defRPr>
            </a:pPr>
            <a:r>
              <a:t>RETRIEVAL INTELLIGENCE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841248"/>
            <a:ext cx="10716768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F8FAFC"/>
                </a:solidFill>
              </a:defRPr>
            </a:pPr>
            <a:r>
              <a:t>Retrieval Innovation: Three-Mode GraphRAG 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435608"/>
            <a:ext cx="10716768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Dynamic mode selection that solves vocabulary mismatch and temporal blindness in AI-assisted code reasoning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1828800"/>
            <a:ext cx="10716768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31520" y="1938528"/>
            <a:ext cx="3328416" cy="420624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7720" y="2014728"/>
            <a:ext cx="3176016" cy="381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2121408"/>
            <a:ext cx="292608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750" b="1">
                <a:solidFill>
                  <a:srgbClr val="2DD4BF"/>
                </a:solidFill>
              </a:defRPr>
            </a:pPr>
            <a:r>
              <a:t>STRUCTURAL CTE WALK</a:t>
            </a:r>
          </a:p>
          <a:p>
            <a:pPr>
              <a:spcAft>
                <a:spcPts val="600"/>
              </a:spcAft>
              <a:defRPr sz="1300" b="1">
                <a:solidFill>
                  <a:srgbClr val="F8FAFC"/>
                </a:solidFill>
              </a:defRPr>
            </a:pPr>
            <a:r>
              <a:t>1. Anchored Retrieval</a:t>
            </a:r>
          </a:p>
          <a:p>
            <a:pPr>
              <a:spcAft>
                <a:spcPts val="200"/>
              </a:spcAft>
            </a:pP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  Starts from a specific file path node (e.g. auth/middleware.py).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  Recursive SQL CTE graph traversal across structural dependencies.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  Finds architectural decisions even with zero vocabulary overlap.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  Ideal for understanding the full history and intent behind a module.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25696" y="1938528"/>
            <a:ext cx="3328416" cy="420624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01896" y="2014728"/>
            <a:ext cx="3176016" cy="381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26864" y="2121408"/>
            <a:ext cx="292608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750" b="1">
                <a:solidFill>
                  <a:srgbClr val="6366F1"/>
                </a:solidFill>
              </a:defRPr>
            </a:pPr>
            <a:r>
              <a:t>TIME-BOUNDED CONTEXT</a:t>
            </a:r>
          </a:p>
          <a:p>
            <a:pPr>
              <a:spcAft>
                <a:spcPts val="600"/>
              </a:spcAft>
              <a:defRPr sz="1300" b="1">
                <a:solidFill>
                  <a:srgbClr val="F8FAFC"/>
                </a:solidFill>
              </a:defRPr>
            </a:pPr>
            <a:r>
              <a:t>2. As-Of Bitemporal</a:t>
            </a:r>
          </a:p>
          <a:p>
            <a:pPr>
              <a:spcAft>
                <a:spcPts val="200"/>
              </a:spcAft>
            </a:pP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  Queries the repository state as it existed at any historical snapshot.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  Example: 'What was our session management standard in March 2023?'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  Filters validity intervals (valid_from &lt;= T &lt;= valid_to) to suppress future decisions.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  Prevents anachronisms and superseded policies from infecting analysis.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19872" y="1938528"/>
            <a:ext cx="3328416" cy="420624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96072" y="2014728"/>
            <a:ext cx="3176016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2121408"/>
            <a:ext cx="292608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750" b="1">
                <a:solidFill>
                  <a:srgbClr val="38BDF8"/>
                </a:solidFill>
              </a:defRPr>
            </a:pPr>
            <a:r>
              <a:t>PGVECTOR FALLBACK</a:t>
            </a:r>
          </a:p>
          <a:p>
            <a:pPr>
              <a:spcAft>
                <a:spcPts val="600"/>
              </a:spcAft>
              <a:defRPr sz="1300" b="1">
                <a:solidFill>
                  <a:srgbClr val="F8FAFC"/>
                </a:solidFill>
              </a:defRPr>
            </a:pPr>
            <a:r>
              <a:t>3. Semantic Similarity</a:t>
            </a:r>
          </a:p>
          <a:p>
            <a:pPr>
              <a:spcAft>
                <a:spcPts val="200"/>
              </a:spcAft>
            </a:pP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  High-dimensional vector embedding search powered by pgvector.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  Resilient fallback for broad, conceptual developer queries.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  Filters semantic nearest-neighbours through graph connectivity boundaries.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  Combines statistical vector search with structural graph precision.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6419088"/>
            <a:ext cx="10716768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6473952"/>
            <a:ext cx="10716768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800">
                <a:solidFill>
                  <a:srgbClr val="64748B"/>
                </a:solidFill>
              </a:defRPr>
            </a:pPr>
            <a:r>
              <a:t>KAIRO  |  Temporal Knowledge Graph Engineering Intelligence Platform  |  Slide 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943600" cy="3657600"/>
          </a:xfrm>
          <a:prstGeom prst="rect">
            <a:avLst/>
          </a:prstGeom>
          <a:solidFill>
            <a:srgbClr val="101B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0" y="3200400"/>
            <a:ext cx="5394960" cy="3657600"/>
          </a:xfrm>
          <a:prstGeom prst="rect">
            <a:avLst/>
          </a:prstGeom>
          <a:solidFill>
            <a:srgbClr val="07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80015" y="0"/>
            <a:ext cx="2011680" cy="508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185855" y="0"/>
            <a:ext cx="1005840" cy="1143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807200"/>
            <a:ext cx="1645920" cy="508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731000"/>
            <a:ext cx="731520" cy="762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502920"/>
            <a:ext cx="2651760" cy="274320"/>
          </a:xfrm>
          <a:prstGeom prst="roundRect">
            <a:avLst/>
          </a:prstGeom>
          <a:solidFill>
            <a:srgbClr val="0B242E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defRPr sz="800" b="1">
                <a:solidFill>
                  <a:srgbClr val="F59E0B"/>
                </a:solidFill>
              </a:defRPr>
            </a:pPr>
            <a:r>
              <a:t>ARCHITECTURAL GOVERNANCE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841248"/>
            <a:ext cx="10716768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F8FAFC"/>
                </a:solidFill>
              </a:defRPr>
            </a:pPr>
            <a:r>
              <a:t>Novel Quantitative Metrics: DDI &amp; EES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435608"/>
            <a:ext cx="10716768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Mathematical metrics turning code health and architectural drift into actionable engineering KPIs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1828800"/>
            <a:ext cx="10716768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31520" y="1938528"/>
            <a:ext cx="5166360" cy="1828800"/>
          </a:xfrm>
          <a:prstGeom prst="roundRect">
            <a:avLst/>
          </a:prstGeom>
          <a:solidFill>
            <a:srgbClr val="16213A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7720" y="3703828"/>
            <a:ext cx="501396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2103120"/>
            <a:ext cx="4764024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400" b="1">
                <a:solidFill>
                  <a:srgbClr val="F59E0B"/>
                </a:solidFill>
              </a:defRPr>
            </a:pPr>
            <a:r>
              <a:t>72 / 100</a:t>
            </a:r>
          </a:p>
          <a:p>
            <a:pPr>
              <a:spcAft>
                <a:spcPts val="500"/>
              </a:spcAft>
              <a:defRPr sz="1200" b="1">
                <a:solidFill>
                  <a:srgbClr val="F8FAFC"/>
                </a:solidFill>
              </a:defRPr>
            </a:pPr>
            <a:r>
              <a:t>Decision Drift Index  (DDI)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Quantifies the mathematical divergence between documented architectural intent and active code. High DDI signals elevated architectural risk and potential technical debt bankruptcy.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1938528"/>
            <a:ext cx="5166360" cy="1828800"/>
          </a:xfrm>
          <a:prstGeom prst="roundRect">
            <a:avLst/>
          </a:prstGeom>
          <a:solidFill>
            <a:srgbClr val="16213A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67272" y="3703828"/>
            <a:ext cx="5013960" cy="50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2103120"/>
            <a:ext cx="4764024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400" b="1">
                <a:solidFill>
                  <a:srgbClr val="10B981"/>
                </a:solidFill>
              </a:defRPr>
            </a:pPr>
            <a:r>
              <a:t>85 / 100</a:t>
            </a:r>
          </a:p>
          <a:p>
            <a:pPr>
              <a:spcAft>
                <a:spcPts val="500"/>
              </a:spcAft>
              <a:defRPr sz="1200" b="1">
                <a:solidFill>
                  <a:srgbClr val="F8FAFC"/>
                </a:solidFill>
              </a:defRPr>
            </a:pPr>
            <a:r>
              <a:t>Engineering Evolution Score  (EES)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Longitudinal repository health index evaluating delivery stability, author ownership diversity, and decision drift across rolling quarterly windows.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3913632"/>
            <a:ext cx="5166360" cy="224028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7720" y="3989832"/>
            <a:ext cx="501396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4096512"/>
            <a:ext cx="4764024" cy="1965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F8FAFC"/>
                </a:solidFill>
              </a:defRPr>
            </a:pPr>
            <a:r>
              <a:t>Why DDI Matters</a:t>
            </a:r>
          </a:p>
          <a:p>
            <a:pPr>
              <a:spcAft>
                <a:spcPts val="200"/>
              </a:spcAft>
            </a:pP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  Detects silent architecture erosion before technical debt bankruptcy.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  Flags undocumented modifications to foundational layers (auth, database, caching).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  Provides automated merge blockers when PRs spike DDI beyond safe thresholds.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913632"/>
            <a:ext cx="5166360" cy="224028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367272" y="3989832"/>
            <a:ext cx="501396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4096512"/>
            <a:ext cx="4764024" cy="1965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F8FAFC"/>
                </a:solidFill>
              </a:defRPr>
            </a:pPr>
            <a:r>
              <a:t>Why EES Matters</a:t>
            </a:r>
          </a:p>
          <a:p>
            <a:pPr>
              <a:spcAft>
                <a:spcPts val="200"/>
              </a:spcAft>
            </a:pP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  Replaces subjective code reviews with a repeatable empirical score.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  Assesses module bus-factor by tracking commit author concentration over time.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  Guides sprint refactoring allocation based on factual component decay.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6419088"/>
            <a:ext cx="10716768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6473952"/>
            <a:ext cx="10716768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800">
                <a:solidFill>
                  <a:srgbClr val="64748B"/>
                </a:solidFill>
              </a:defRPr>
            </a:pPr>
            <a:r>
              <a:t>KAIRO  |  Temporal Knowledge Graph Engineering Intelligence Platform  |  Slide 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943600" cy="3657600"/>
          </a:xfrm>
          <a:prstGeom prst="rect">
            <a:avLst/>
          </a:prstGeom>
          <a:solidFill>
            <a:srgbClr val="101B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0" y="3200400"/>
            <a:ext cx="5394960" cy="3657600"/>
          </a:xfrm>
          <a:prstGeom prst="rect">
            <a:avLst/>
          </a:prstGeom>
          <a:solidFill>
            <a:srgbClr val="07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80015" y="0"/>
            <a:ext cx="2011680" cy="508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185855" y="0"/>
            <a:ext cx="1005840" cy="1143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807200"/>
            <a:ext cx="1645920" cy="508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731000"/>
            <a:ext cx="731520" cy="762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502920"/>
            <a:ext cx="2651760" cy="274320"/>
          </a:xfrm>
          <a:prstGeom prst="roundRect">
            <a:avLst/>
          </a:prstGeom>
          <a:solidFill>
            <a:srgbClr val="0B242E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defRPr sz="800" b="1">
                <a:solidFill>
                  <a:srgbClr val="F43F5E"/>
                </a:solidFill>
              </a:defRPr>
            </a:pPr>
            <a:r>
              <a:t>PULL REQUEST GOVERNANCE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841248"/>
            <a:ext cx="10716768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F8FAFC"/>
                </a:solidFill>
              </a:defRPr>
            </a:pPr>
            <a:r>
              <a:t>Pre-Merge Intelligence: Change Impact Scanner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435608"/>
            <a:ext cx="10716768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PR #412 walkthrough: detecting blast radius and architectural conflicts before merge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1828800"/>
            <a:ext cx="10716768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31520" y="1938528"/>
            <a:ext cx="10716768" cy="384048"/>
          </a:xfrm>
          <a:prstGeom prst="roundRect">
            <a:avLst/>
          </a:prstGeom>
          <a:solidFill>
            <a:srgbClr val="1C0E06"/>
          </a:solidFill>
          <a:ln w="95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0" rIns="45720"/>
          <a:lstStyle/>
          <a:p>
            <a:pPr algn="ctr">
              <a:defRPr sz="1000" b="1">
                <a:solidFill>
                  <a:srgbClr val="F59E0B"/>
                </a:solidFill>
              </a:defRPr>
            </a:pPr>
            <a:r>
              <a:t>Simulated PR  #412  |  Migrate auth middleware to stateless JWTs  |  +142 lines  -89 lines  |  Author: @sharvari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450592"/>
            <a:ext cx="3328416" cy="3694176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7720" y="2526792"/>
            <a:ext cx="3176016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2633472"/>
            <a:ext cx="2926080" cy="34198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750" b="1">
                <a:solidFill>
                  <a:srgbClr val="F59E0B"/>
                </a:solidFill>
              </a:defRPr>
            </a:pPr>
            <a:r>
              <a:t>ADR COLLISION</a:t>
            </a:r>
          </a:p>
          <a:p>
            <a:pPr>
              <a:spcAft>
                <a:spcPts val="600"/>
              </a:spcAft>
              <a:defRPr sz="1300" b="1">
                <a:solidFill>
                  <a:srgbClr val="F8FAFC"/>
                </a:solidFill>
              </a:defRPr>
            </a:pPr>
            <a:r>
              <a:t>Step 1: Conflict Detection</a:t>
            </a:r>
          </a:p>
          <a:p>
            <a:pPr>
              <a:spcAft>
                <a:spcPts val="200"/>
              </a:spcAft>
            </a:pP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  PR #412 modifies authentication middleware to stateless JWTs (+142, -89).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  KAIRO scans files and traverses graph to discover ADR-042.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  ADR-042 mandated session-based auth as the documented standard.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  Alert: 'PR contradicts architectural decision ADR-042 - review required.'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25696" y="2450592"/>
            <a:ext cx="3328416" cy="3694176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01896" y="2526792"/>
            <a:ext cx="3176016" cy="381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26864" y="2633472"/>
            <a:ext cx="2926080" cy="34198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750" b="1">
                <a:solidFill>
                  <a:srgbClr val="6366F1"/>
                </a:solidFill>
              </a:defRPr>
            </a:pPr>
            <a:r>
              <a:t>TELEMETRY RISK</a:t>
            </a:r>
          </a:p>
          <a:p>
            <a:pPr>
              <a:spcAft>
                <a:spcPts val="600"/>
              </a:spcAft>
              <a:defRPr sz="1300" b="1">
                <a:solidFill>
                  <a:srgbClr val="F8FAFC"/>
                </a:solidFill>
              </a:defRPr>
            </a:pPr>
            <a:r>
              <a:t>Step 2: Churn &amp; Bug Risk</a:t>
            </a:r>
          </a:p>
          <a:p>
            <a:pPr>
              <a:spcAft>
                <a:spcPts val="200"/>
              </a:spcAft>
            </a:pP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  Scanner queries Layer 1 telemetry for auth/middleware.py historical data.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  File Churn: Modified 47 times in the last 6 months.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  Historical Regression Rate: 23% of previous edits introduced defects.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  Warning: 'Fragile file detected. Additional security review recommended.'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19872" y="2450592"/>
            <a:ext cx="3328416" cy="3694176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96072" y="2526792"/>
            <a:ext cx="3176016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2633472"/>
            <a:ext cx="2926080" cy="34198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750" b="1">
                <a:solidFill>
                  <a:srgbClr val="10B981"/>
                </a:solidFill>
              </a:defRPr>
            </a:pPr>
            <a:r>
              <a:t>RESOLUTION</a:t>
            </a:r>
          </a:p>
          <a:p>
            <a:pPr>
              <a:spcAft>
                <a:spcPts val="600"/>
              </a:spcAft>
              <a:defRPr sz="1300" b="1">
                <a:solidFill>
                  <a:srgbClr val="F8FAFC"/>
                </a:solidFill>
              </a:defRPr>
            </a:pPr>
            <a:r>
              <a:t>Step 3: Resolution &amp; Clearance</a:t>
            </a:r>
          </a:p>
          <a:p>
            <a:pPr>
              <a:spcAft>
                <a:spcPts val="200"/>
              </a:spcAft>
            </a:pP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  Original architect (@dave) is inactive; @alice holds 67% module ownership.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  Review auto-assigned to active primary maintainers.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  Team generates superseding ADR-048 to formally approve JWT migration.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  DDI recalculated: Architecture remains 100% documented upon merge.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6419088"/>
            <a:ext cx="10716768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6473952"/>
            <a:ext cx="10716768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800">
                <a:solidFill>
                  <a:srgbClr val="64748B"/>
                </a:solidFill>
              </a:defRPr>
            </a:pPr>
            <a:r>
              <a:t>KAIRO  |  Temporal Knowledge Graph Engineering Intelligence Platform  |  Slide 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943600" cy="3657600"/>
          </a:xfrm>
          <a:prstGeom prst="rect">
            <a:avLst/>
          </a:prstGeom>
          <a:solidFill>
            <a:srgbClr val="101B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0" y="3200400"/>
            <a:ext cx="5394960" cy="3657600"/>
          </a:xfrm>
          <a:prstGeom prst="rect">
            <a:avLst/>
          </a:prstGeom>
          <a:solidFill>
            <a:srgbClr val="07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80015" y="0"/>
            <a:ext cx="2011680" cy="508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185855" y="0"/>
            <a:ext cx="1005840" cy="1143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807200"/>
            <a:ext cx="1645920" cy="508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731000"/>
            <a:ext cx="731520" cy="762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502920"/>
            <a:ext cx="2651760" cy="274320"/>
          </a:xfrm>
          <a:prstGeom prst="roundRect">
            <a:avLst/>
          </a:prstGeom>
          <a:solidFill>
            <a:srgbClr val="0B242E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defRPr sz="800" b="1">
                <a:solidFill>
                  <a:srgbClr val="38BDF8"/>
                </a:solidFill>
              </a:defRPr>
            </a:pPr>
            <a:r>
              <a:t>FULL-LIFECYCLE AGILE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841248"/>
            <a:ext cx="10716768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F8FAFC"/>
                </a:solidFill>
              </a:defRPr>
            </a:pPr>
            <a:r>
              <a:t>Agile Alignment: Multi-Level Hierarchy &amp; Planning Poker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435608"/>
            <a:ext cx="10716768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Connecting high-level business objectives to architecture-aware backlog execution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1828800"/>
            <a:ext cx="10716768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31520" y="1938528"/>
            <a:ext cx="5166360" cy="420624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7720" y="2014728"/>
            <a:ext cx="501396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2121408"/>
            <a:ext cx="4764024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750" b="1">
                <a:solidFill>
                  <a:srgbClr val="38BDF8"/>
                </a:solidFill>
              </a:defRPr>
            </a:pPr>
            <a:r>
              <a:t>STRATEGIC ROLLUP</a:t>
            </a:r>
          </a:p>
          <a:p>
            <a:pPr>
              <a:spcAft>
                <a:spcPts val="600"/>
              </a:spcAft>
              <a:defRPr sz="1300" b="1">
                <a:solidFill>
                  <a:srgbClr val="F8FAFC"/>
                </a:solidFill>
              </a:defRPr>
            </a:pPr>
            <a:r>
              <a:t>Multi-Level Work Hierarchy  (/demo/hierarchy)</a:t>
            </a:r>
          </a:p>
          <a:p>
            <a:pPr>
              <a:spcAft>
                <a:spcPts val="200"/>
              </a:spcAft>
            </a:pP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  Structured alignment: Objectives -&gt; Projects -&gt; Epics -&gt; Issues -&gt; Sub-tasks.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  Live Progress Rollups: Automatic point completion at each parent tier.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  Architecture Impact Badges: Issues flagged by the scanner shown on the tree.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  Bidirectional GitHub sync: Issues and milestones with real-time commit data.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  Unified visibility for both developers and project managers.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1938528"/>
            <a:ext cx="5166360" cy="420624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67272" y="2014728"/>
            <a:ext cx="5013960" cy="381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2121408"/>
            <a:ext cx="4764024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750" b="1">
                <a:solidFill>
                  <a:srgbClr val="2DD4BF"/>
                </a:solidFill>
              </a:defRPr>
            </a:pPr>
            <a:r>
              <a:t>TEAM CONSENSUS</a:t>
            </a:r>
          </a:p>
          <a:p>
            <a:pPr>
              <a:spcAft>
                <a:spcPts val="600"/>
              </a:spcAft>
              <a:defRPr sz="1300" b="1">
                <a:solidFill>
                  <a:srgbClr val="F8FAFC"/>
                </a:solidFill>
              </a:defRPr>
            </a:pPr>
            <a:r>
              <a:t>Interactive Planning Poker  (/demo/board)</a:t>
            </a:r>
          </a:p>
          <a:p>
            <a:pPr>
              <a:spcAft>
                <a:spcPts val="200"/>
              </a:spcAft>
            </a:pP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  Architecture-Aware Story Point Estimation integrated into sprint board.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  Fibonacci Deck: 1, 2, 3, 5, 8, 13, 21 point scale for consensus voting.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  Simulated team votes from @aman, @shruti, @sharvari, and @alex.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  AI Historical Benchmark: Recommends complexity based on file fragility.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  1-click commitment updates sprint velocity and backlog balance.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6419088"/>
            <a:ext cx="10716768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6473952"/>
            <a:ext cx="10716768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800">
                <a:solidFill>
                  <a:srgbClr val="64748B"/>
                </a:solidFill>
              </a:defRPr>
            </a:pPr>
            <a:r>
              <a:t>KAIRO  |  Temporal Knowledge Graph Engineering Intelligence Platform  |  Slide 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943600" cy="3657600"/>
          </a:xfrm>
          <a:prstGeom prst="rect">
            <a:avLst/>
          </a:prstGeom>
          <a:solidFill>
            <a:srgbClr val="101B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0" y="3200400"/>
            <a:ext cx="5394960" cy="3657600"/>
          </a:xfrm>
          <a:prstGeom prst="rect">
            <a:avLst/>
          </a:prstGeom>
          <a:solidFill>
            <a:srgbClr val="07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80015" y="0"/>
            <a:ext cx="2011680" cy="508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185855" y="0"/>
            <a:ext cx="1005840" cy="1143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807200"/>
            <a:ext cx="1645920" cy="508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731000"/>
            <a:ext cx="731520" cy="762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502920"/>
            <a:ext cx="2651760" cy="274320"/>
          </a:xfrm>
          <a:prstGeom prst="roundRect">
            <a:avLst/>
          </a:prstGeom>
          <a:solidFill>
            <a:srgbClr val="0B242E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defRPr sz="800" b="1">
                <a:solidFill>
                  <a:srgbClr val="10B981"/>
                </a:solidFill>
              </a:defRPr>
            </a:pPr>
            <a:r>
              <a:t>EXPERIMENTAL FINDINGS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841248"/>
            <a:ext cx="10716768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F8FAFC"/>
                </a:solidFill>
              </a:defRPr>
            </a:pPr>
            <a:r>
              <a:t>Empirical Validation &amp; Benchmark Results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435608"/>
            <a:ext cx="10716768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Rigorous benchmarks across open-source repositories and simulated engineering testbeds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1828800"/>
            <a:ext cx="10716768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31520" y="1938528"/>
            <a:ext cx="3328416" cy="1920240"/>
          </a:xfrm>
          <a:prstGeom prst="roundRect">
            <a:avLst/>
          </a:prstGeom>
          <a:solidFill>
            <a:srgbClr val="16213A"/>
          </a:solidFill>
          <a:ln w="1524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7720" y="3795268"/>
            <a:ext cx="3176016" cy="508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2103120"/>
            <a:ext cx="292608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400" b="1">
                <a:solidFill>
                  <a:srgbClr val="2DD4BF"/>
                </a:solidFill>
              </a:defRPr>
            </a:pPr>
            <a:r>
              <a:t>7.1x</a:t>
            </a:r>
          </a:p>
          <a:p>
            <a:pPr>
              <a:spcAft>
                <a:spcPts val="500"/>
              </a:spcAft>
              <a:defRPr sz="1200" b="1">
                <a:solidFill>
                  <a:srgbClr val="F8FAFC"/>
                </a:solidFill>
              </a:defRPr>
            </a:pPr>
            <a:r>
              <a:t>Cross-Reference Recovery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Timeline API graph ingestion recovered 7.1x more relationships between PRs, commits, and reviews vs. standard regex extraction.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25696" y="1938528"/>
            <a:ext cx="3328416" cy="1920240"/>
          </a:xfrm>
          <a:prstGeom prst="roundRect">
            <a:avLst/>
          </a:prstGeom>
          <a:solidFill>
            <a:srgbClr val="16213A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01896" y="3795268"/>
            <a:ext cx="3176016" cy="508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26864" y="2103120"/>
            <a:ext cx="292608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400" b="1">
                <a:solidFill>
                  <a:srgbClr val="38BDF8"/>
                </a:solidFill>
              </a:defRPr>
            </a:pPr>
            <a:r>
              <a:t>56% -&gt; 27%</a:t>
            </a:r>
          </a:p>
          <a:p>
            <a:pPr>
              <a:spcAft>
                <a:spcPts val="500"/>
              </a:spcAft>
              <a:defRPr sz="1200" b="1">
                <a:solidFill>
                  <a:srgbClr val="F8FAFC"/>
                </a:solidFill>
              </a:defRPr>
            </a:pPr>
            <a:r>
              <a:t>Overlap Reduction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Dynamic Hub Degree Suppression prevents sweeping commits from dominating search, cutting result-set overlap by more than half.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19872" y="1938528"/>
            <a:ext cx="3328416" cy="1920240"/>
          </a:xfrm>
          <a:prstGeom prst="roundRect">
            <a:avLst/>
          </a:prstGeom>
          <a:solidFill>
            <a:srgbClr val="16213A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96072" y="3795268"/>
            <a:ext cx="3176016" cy="50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2103120"/>
            <a:ext cx="292608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400" b="1">
                <a:solidFill>
                  <a:srgbClr val="10B981"/>
                </a:solidFill>
              </a:defRPr>
            </a:pPr>
            <a:r>
              <a:t>&lt; 1%</a:t>
            </a:r>
          </a:p>
          <a:p>
            <a:pPr>
              <a:spcAft>
                <a:spcPts val="500"/>
              </a:spcAft>
              <a:defRPr sz="1200" b="1">
                <a:solidFill>
                  <a:srgbClr val="F8FAFC"/>
                </a:solidFill>
              </a:defRPr>
            </a:pPr>
            <a:r>
              <a:t>Hallucination Rejection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Verbatim-quote verification on Layer 2 decisions eliminated fabricated citations, achieving 99%+ provenance precision.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4005072"/>
            <a:ext cx="10716768" cy="214884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7720" y="4081272"/>
            <a:ext cx="10564368" cy="381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4187952"/>
            <a:ext cx="10314432" cy="1874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750" b="1">
                <a:solidFill>
                  <a:srgbClr val="6366F1"/>
                </a:solidFill>
              </a:defRPr>
            </a:pPr>
            <a:r>
              <a:t>ENGINEERING STACK</a:t>
            </a:r>
          </a:p>
          <a:p>
            <a:pPr>
              <a:spcAft>
                <a:spcPts val="600"/>
              </a:spcAft>
              <a:defRPr sz="1300" b="1">
                <a:solidFill>
                  <a:srgbClr val="F8FAFC"/>
                </a:solidFill>
              </a:defRPr>
            </a:pPr>
            <a:r>
              <a:t>Production Technology Stack</a:t>
            </a:r>
          </a:p>
          <a:p>
            <a:pPr>
              <a:spcAft>
                <a:spcPts val="200"/>
              </a:spcAft>
            </a:pP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  Backend:   Python 3.13, FastAPI async REST API, Pydantic validation models.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  Database:  PostgreSQL + pgvector + recursive SQL CTEs (replaces heavy Neo4j overhead).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  Frontend:  Next.js 16 (React 19, Turbopack), Tailwind CSS 4, Lucide React iconography.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  LLMOps:    OpenRouter proxy (Cohere, Qwen, Llama) with content-hash caching for reproducible inference.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6419088"/>
            <a:ext cx="10716768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6473952"/>
            <a:ext cx="10716768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800">
                <a:solidFill>
                  <a:srgbClr val="64748B"/>
                </a:solidFill>
              </a:defRPr>
            </a:pPr>
            <a:r>
              <a:t>KAIRO  |  Temporal Knowledge Graph Engineering Intelligence Platform  |  Slide 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943600" cy="3657600"/>
          </a:xfrm>
          <a:prstGeom prst="rect">
            <a:avLst/>
          </a:prstGeom>
          <a:solidFill>
            <a:srgbClr val="101B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0" y="3200400"/>
            <a:ext cx="5394960" cy="3657600"/>
          </a:xfrm>
          <a:prstGeom prst="rect">
            <a:avLst/>
          </a:prstGeom>
          <a:solidFill>
            <a:srgbClr val="07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80015" y="0"/>
            <a:ext cx="2011680" cy="508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185855" y="0"/>
            <a:ext cx="1005840" cy="1143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807200"/>
            <a:ext cx="1645920" cy="508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731000"/>
            <a:ext cx="731520" cy="762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502920"/>
            <a:ext cx="2651760" cy="274320"/>
          </a:xfrm>
          <a:prstGeom prst="roundRect">
            <a:avLst/>
          </a:prstGeom>
          <a:solidFill>
            <a:srgbClr val="0B242E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defRPr sz="800" b="1">
                <a:solidFill>
                  <a:srgbClr val="2DD4BF"/>
                </a:solidFill>
              </a:defRPr>
            </a:pPr>
            <a:r>
              <a:t>PROJECT IMPACT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841248"/>
            <a:ext cx="10716768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F8FAFC"/>
                </a:solidFill>
              </a:defRPr>
            </a:pPr>
            <a:r>
              <a:t>Conclusion: The Strategic Impact of KAIRO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435608"/>
            <a:ext cx="10716768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Preserving intellectual capital and building self-reasoning software engineering ecosystems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1828800"/>
            <a:ext cx="10716768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31520" y="1938528"/>
            <a:ext cx="3328416" cy="352044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7720" y="2014728"/>
            <a:ext cx="3176016" cy="381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2121408"/>
            <a:ext cx="2926080" cy="3246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750" b="1">
                <a:solidFill>
                  <a:srgbClr val="2DD4BF"/>
                </a:solidFill>
              </a:defRPr>
            </a:pPr>
            <a:r>
              <a:t>DEVELOPER PRODUCTIVITY</a:t>
            </a:r>
          </a:p>
          <a:p>
            <a:pPr>
              <a:spcAft>
                <a:spcPts val="600"/>
              </a:spcAft>
              <a:defRPr sz="1300" b="1">
                <a:solidFill>
                  <a:srgbClr val="F8FAFC"/>
                </a:solidFill>
              </a:defRPr>
            </a:pPr>
            <a:r>
              <a:t>For Engineering Teams</a:t>
            </a:r>
          </a:p>
          <a:p>
            <a:pPr>
              <a:spcAft>
                <a:spcPts val="200"/>
              </a:spcAft>
            </a:pP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  Zero Knowledge Loss: Engineers instantly understand why code was written.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  Safer Code Reviews: Know the architectural blast radius before merging.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  Confidence in Refactoring: Identify fragile hotspots and outdated decisions.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  Eliminates guesswork in legacy maintenance workflows.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25696" y="1938528"/>
            <a:ext cx="3328416" cy="352044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01896" y="2014728"/>
            <a:ext cx="3176016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26864" y="2121408"/>
            <a:ext cx="2926080" cy="3246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750" b="1">
                <a:solidFill>
                  <a:srgbClr val="38BDF8"/>
                </a:solidFill>
              </a:defRPr>
            </a:pPr>
            <a:r>
              <a:t>GOVERNANCE &amp; OVERSIGHT</a:t>
            </a:r>
          </a:p>
          <a:p>
            <a:pPr>
              <a:spcAft>
                <a:spcPts val="600"/>
              </a:spcAft>
              <a:defRPr sz="1300" b="1">
                <a:solidFill>
                  <a:srgbClr val="F8FAFC"/>
                </a:solidFill>
              </a:defRPr>
            </a:pPr>
            <a:r>
              <a:t>For Engineering Leadership</a:t>
            </a:r>
          </a:p>
          <a:p>
            <a:pPr>
              <a:spcAft>
                <a:spcPts val="200"/>
              </a:spcAft>
            </a:pP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  Objective Quality Metrics: Track DDI and EES on executive dashboards.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  Eliminate Architectural Debt: Identify divergence months before outages.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  Auditability: Verbatim provenance provides enterprise governance paper-trails.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19872" y="1938528"/>
            <a:ext cx="3328416" cy="352044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96072" y="2014728"/>
            <a:ext cx="3176016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2121408"/>
            <a:ext cx="2926080" cy="3246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750" b="1">
                <a:solidFill>
                  <a:srgbClr val="10B981"/>
                </a:solidFill>
              </a:defRPr>
            </a:pPr>
            <a:r>
              <a:t>ACADEMIC INNOVATION</a:t>
            </a:r>
          </a:p>
          <a:p>
            <a:pPr>
              <a:spcAft>
                <a:spcPts val="600"/>
              </a:spcAft>
              <a:defRPr sz="1300" b="1">
                <a:solidFill>
                  <a:srgbClr val="F8FAFC"/>
                </a:solidFill>
              </a:defRPr>
            </a:pPr>
            <a:r>
              <a:t>The Research Contribution</a:t>
            </a:r>
          </a:p>
          <a:p>
            <a:pPr>
              <a:spcAft>
                <a:spcPts val="200"/>
              </a:spcAft>
            </a:pP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  Solves Temporal Blindness: Bitemporal intervals as the key for LLMOps in codebases.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  Two-Layer Trust Paradigm: Deterministic telemetry + probabilistic LLM outputs coexist safely.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  A New Category: Self-reasoning software engineering memory platform.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5596128"/>
            <a:ext cx="10716768" cy="658368"/>
          </a:xfrm>
          <a:prstGeom prst="roundRect">
            <a:avLst/>
          </a:prstGeom>
          <a:solidFill>
            <a:srgbClr val="082E2A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0" tIns="91440" bIns="91440"/>
          <a:lstStyle/>
          <a:p>
            <a:pPr algn="ctr">
              <a:defRPr sz="1300" b="1">
                <a:solidFill>
                  <a:srgbClr val="2DD4BF"/>
                </a:solidFill>
              </a:defRPr>
            </a:pPr>
            <a:r>
              <a:t>KAIRO  |  github.com/sharvarianand/kairo  |  Try the live demo at  /demo?mode=judge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6419088"/>
            <a:ext cx="10716768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6473952"/>
            <a:ext cx="10716768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800">
                <a:solidFill>
                  <a:srgbClr val="64748B"/>
                </a:solidFill>
              </a:defRPr>
            </a:pPr>
            <a:r>
              <a:t>KAIRO  |  Temporal Knowledge Graph Engineering Intelligence Platform  |  Slide 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