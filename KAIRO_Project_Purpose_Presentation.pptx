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840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ENGINEERING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KAIRO</a:t>
            </a:r>
          </a:p>
          <a:p>
            <a:pPr>
              <a:spcBef>
                <a:spcPts val="800"/>
              </a:spcBef>
              <a:defRPr sz="2200">
                <a:solidFill>
                  <a:srgbClr val="2DD4BF"/>
                </a:solidFill>
              </a:defRPr>
            </a:pPr>
            <a:r>
              <a:t>A Temporal Knowledge Graph Based Engineering Intelligence Platform</a:t>
            </a:r>
            <a:br/>
            <a:r>
              <a:t>for Software Project Reasoning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Project Purpose: Reconstructing and preserving architectural memory across commits, pull requests, and design decisions to eliminate undocumented decision drift.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Team Members: Sharvari Bhondekar, Aman Mehtar, Shruti Gauchandra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Project Mentors: Prof. Kranti Gule, Dr. Tatwadarshi P. Nagarhalli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Department of Artificial Intelligence &amp; Data Science, Vidyavardhini's College of Engineering and Technology (VCET)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Critical Problem: Engineering Memory Vaporization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Why modern software engineering teams lose architectural context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2962656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1. Tool Fragmentation</a:t>
            </a:r>
          </a:p>
          <a:p>
            <a:pPr>
              <a:spcAft>
                <a:spcPts val="800"/>
              </a:spcAft>
              <a:defRPr sz="900" b="1">
                <a:solidFill>
                  <a:srgbClr val="6366F1"/>
                </a:solidFill>
              </a:defRPr>
            </a:pPr>
            <a:r>
              <a:t>SILOED INFORMATION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Teams use distributed tools: GitHub, Jira, Slack, wikis, and PR threads.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These systems track the current status of tasks (Done, In Progress), but never preserve why decisions were made.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When original engineers transition or leave, critical institutional memory vanishes permanently.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New engineers inherit codebases with zero verifiable context on legacy trade-offs.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1755648"/>
            <a:ext cx="2962656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2. Invisible Decision Drift</a:t>
            </a:r>
          </a:p>
          <a:p>
            <a:pPr>
              <a:spcAft>
                <a:spcPts val="800"/>
              </a:spcAft>
              <a:defRPr sz="900" b="1">
                <a:solidFill>
                  <a:srgbClr val="F59E0B"/>
                </a:solidFill>
              </a:defRPr>
            </a:pPr>
            <a:r>
              <a:t>SILENT DIVERGENCE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Documented architecture and live codebases continuously drift apart.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Subsequent pull requests inadvertently violate foundational architectural decisions (ADRs).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Technical debt accumulates silently until massive regressions occur in production.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Teams lack any objective mathematical index to measure or alert on architectural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755648"/>
            <a:ext cx="2962656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3. Temporal Blindness in AI</a:t>
            </a:r>
          </a:p>
          <a:p>
            <a:pPr>
              <a:spcAft>
                <a:spcPts val="800"/>
              </a:spcAft>
              <a:defRPr sz="900" b="1">
                <a:solidFill>
                  <a:srgbClr val="38BDF8"/>
                </a:solidFill>
              </a:defRPr>
            </a:pPr>
            <a:r>
              <a:t>RAG LIMITATION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Standard Vector RAG retrieves code snippets solely by semantic keyword similarity.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Standard RAG cannot distinguish between an active architectural rule and a superseded choice from 2021.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Results in dangerous hallucinations: AI developer tools recommend obsolete practices as authoritative standards.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Missing bitemporal intervals leads to high risk in AI-assisted coding.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CORE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Purpose: Why KAIRO Exists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Building an authoritative, bitemporal engineering knowledge graph for software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16768" cy="1051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CCFBF1"/>
                </a:solidFill>
              </a:defRPr>
            </a:pPr>
            <a:r>
              <a:t>The Overarching Mission of KAIRO: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To transform unstructured developer telemetry into an active, verifiable bitemporal knowledge graph, empowering teams to query, track, and protect the architectural rationale of their codebases.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328416" cy="3108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035808"/>
            <a:ext cx="2962656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87121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Reconstruct Reasoning</a:t>
            </a:r>
          </a:p>
          <a:p>
            <a:pPr>
              <a:spcAft>
                <a:spcPts val="800"/>
              </a:spcAft>
              <a:defRPr sz="900" b="1">
                <a:solidFill>
                  <a:srgbClr val="2DD4BF"/>
                </a:solidFill>
              </a:defRPr>
            </a:pPr>
            <a:r>
              <a:t>COGNITIVE MEMORY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Mine commits, PR discussions, code reviews, and issue threads.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Extract discrete architectural decisions with verbatim provenance quotes.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Enable natural-language queries: 'Why did we choose stateless JWT over Redis sessions?'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017520"/>
            <a:ext cx="3328416" cy="3108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3035808"/>
            <a:ext cx="2962656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3200400"/>
            <a:ext cx="287121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Pre-Merge Interception</a:t>
            </a:r>
          </a:p>
          <a:p>
            <a:pPr>
              <a:spcAft>
                <a:spcPts val="800"/>
              </a:spcAft>
              <a:defRPr sz="900" b="1">
                <a:solidFill>
                  <a:srgbClr val="F59E0B"/>
                </a:solidFill>
              </a:defRPr>
            </a:pPr>
            <a:r>
              <a:t>PROACTIVE PROTECTION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Scan modified files in pending pull requests against the knowledge graph.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Flag conflicts with documented architectural decisions before code merges.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Prevent regressions caused by developer rotation and forgotten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017520"/>
            <a:ext cx="3328416" cy="3108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3035808"/>
            <a:ext cx="2962656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3200400"/>
            <a:ext cx="287121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Quantify Repository Health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</a:defRPr>
            </a:pPr>
            <a:r>
              <a:t>VERIFIABLE GOVERNANCE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Introduce mathematical metrics for software architecture governance.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Decision Drift Index (DDI) measures codebase divergence.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Engineering Evolution Score (EES) assesses stability, ownership, and maintenance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ZERO-HALLUCINATION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Architectural Innovation: Two-Layer Trust Isolation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Separating verifiable deterministic code facts from LLM-interpreted architectural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663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4800600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Layer 1: Deterministic Fact Graph</a:t>
            </a:r>
          </a:p>
          <a:p>
            <a:pPr>
              <a:spcAft>
                <a:spcPts val="800"/>
              </a:spcAft>
              <a:defRPr sz="900" b="1">
                <a:solidFill>
                  <a:srgbClr val="38BDF8"/>
                </a:solidFill>
              </a:defRPr>
            </a:pPr>
            <a:r>
              <a:t>100% VERIFIABLE REALITY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Strictly factual engineering telemetry directly synced from GitHub APIs.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Entities: Repositories, Commits, Authors, Pull Requests, Files, Diffs.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Zero LLM involvement: Guarantees 100% mathematical fidelity and zero hallucination risk.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Deterministic Edge Linking: Connects commits to files, authors to PRs, and PRs to issues with precise timestamps.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Foundation of Trust: Serves as the ground truth anchor for all downstream graph walks and impact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737360"/>
            <a:ext cx="51663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3952" y="1755648"/>
            <a:ext cx="4800600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Layer 2: Interpreted Decision Graph</a:t>
            </a:r>
          </a:p>
          <a:p>
            <a:pPr>
              <a:spcAft>
                <a:spcPts val="800"/>
              </a:spcAft>
              <a:defRPr sz="900" b="1">
                <a:solidFill>
                  <a:srgbClr val="2DD4BF"/>
                </a:solidFill>
              </a:defRPr>
            </a:pPr>
            <a:r>
              <a:t>BITEMPORAL LLM REASONING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Architectural decisions, trade-offs, and rationale extracted via LLMs.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Bitemporal Validity Intervals: Every decision carries Valid-Time (when it was true in the world) and Transaction-Time (when KAIRO ingested it).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Verbatim Provenance Quotation: Extracted claims must quote exact PR review comments to eliminate fabricated context.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Superseding Graph Edges: When a new decision is ratified (e.g. ADR-048), supersedes edges retire outdated nodes automatically.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Confidence Scoring: Every decision carries an empirical verification score (e.g., 94% confidence).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RETRIEVAL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Retrieval Innovation: Three-Mode GraphRAG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Dynamic mode selection that solves vocabulary mismatch and temporal blindness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2962656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1. Anchored Retrieval</a:t>
            </a:r>
          </a:p>
          <a:p>
            <a:pPr>
              <a:spcAft>
                <a:spcPts val="800"/>
              </a:spcAft>
              <a:defRPr sz="900" b="1">
                <a:solidFill>
                  <a:srgbClr val="2DD4BF"/>
                </a:solidFill>
              </a:defRPr>
            </a:pPr>
            <a:r>
              <a:t>STRUCTURAL CTE WALK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Starts from a specific file path node (e.g. auth/middleware.py).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Performs recursive SQL CTE graph traversal across structural dependencies.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Finds relevant architectural decisions even when they share zero vocabulary with user queries.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Ideal for understanding the full history and intent behind an isolated file or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1755648"/>
            <a:ext cx="2962656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2. As-Of Bitemporal Retrieval</a:t>
            </a:r>
          </a:p>
          <a:p>
            <a:pPr>
              <a:spcAft>
                <a:spcPts val="800"/>
              </a:spcAft>
              <a:defRPr sz="900" b="1">
                <a:solidFill>
                  <a:srgbClr val="6366F1"/>
                </a:solidFill>
              </a:defRPr>
            </a:pPr>
            <a:r>
              <a:t>TIME-BOUNDED CONTEXT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Queries the repository state as it existed at any historical snapshot in 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Example query: 'What was our session management standard in March 2023?'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Filters validity intervals (valid_from &lt;= T &lt;= valid_to) to completely suppress decisions made after timestamp 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Prevents anachronisms and superseded policies from infecting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755648"/>
            <a:ext cx="2962656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3. Semantic Similarity</a:t>
            </a:r>
          </a:p>
          <a:p>
            <a:pPr>
              <a:spcAft>
                <a:spcPts val="800"/>
              </a:spcAft>
              <a:defRPr sz="900" b="1">
                <a:solidFill>
                  <a:srgbClr val="38BDF8"/>
                </a:solidFill>
              </a:defRPr>
            </a:pPr>
            <a:r>
              <a:t>PGVECTOR FALLBACK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High-dimensional vector embedding search powered by pgvector.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Acts as a resilient fallback for broad, conceptual developer queries.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Filters semantic nearest-neighbors through graph connectivity boundaries.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Combines statistical vector search with structural graph precision.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ARCHITECTURAL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Novel Quantitative Metrics: DDI &amp; EES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Mathematical metrics that turn code health and architectural drift into actionable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6636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72 / 100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Decision Drift Index (DDI)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Measures the mathematical divergence between documented architectural intent and active code implementation. High DDI indicates elevated architectural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737360"/>
            <a:ext cx="516636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20240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85 / 100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Engineering Evolution Score (EES)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Longitudinal repository health index evaluating delivery stability, author ownership diversity, and decision drift over rolling quarterly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6636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041648"/>
            <a:ext cx="480060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Why DDI Matters for Engineering Teams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Detects silent architecture erosion before it triggers technical debt bankruptcy.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Flags undocumented modifications to foundational layers (auth, database, caching).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Provides automated merge blockers when pull requests spike DDI beyond safe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023360"/>
            <a:ext cx="516636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4041648"/>
            <a:ext cx="4800600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420624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Why EES Matters for Leadership &amp; Evaluators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Replaces subjective code quality reviews with a repeatable empirical score.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Assesses module bus-factor by tracking commit author concentration over 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Guides sprint refactoring allocation based on factual component decay.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PULL REQUEST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Pre-Merge Intelligence: Change Impact Scanner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Simulated GitHub PR #412 walkthrough: Detecting blast radius and conflicts before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2962656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Step 1: Conflict Detection</a:t>
            </a:r>
          </a:p>
          <a:p>
            <a:pPr>
              <a:spcAft>
                <a:spcPts val="800"/>
              </a:spcAft>
              <a:defRPr sz="900" b="1">
                <a:solidFill>
                  <a:srgbClr val="F59E0B"/>
                </a:solidFill>
              </a:defRPr>
            </a:pPr>
            <a:r>
              <a:t>ADR COLLISION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PR #412 proposes migrating authentication middleware to stateless JWTs (+142, -89).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KAIRO scans modified files and traverses the graph to discover ADR-042.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ADR-042 formally documented that session-based auth was the mandatory standard.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Alert Triggered: 'PR contradicts documented architectural decision ADR-042.'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1755648"/>
            <a:ext cx="2962656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Step 2: Churn &amp; Bug Risk</a:t>
            </a:r>
          </a:p>
          <a:p>
            <a:pPr>
              <a:spcAft>
                <a:spcPts val="800"/>
              </a:spcAft>
              <a:defRPr sz="900" b="1">
                <a:solidFill>
                  <a:srgbClr val="6366F1"/>
                </a:solidFill>
              </a:defRPr>
            </a:pPr>
            <a:r>
              <a:t>TELEMETRY RISK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Scanner queries historical Layer 1 telemetry for auth/middleware.py.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File Churn Telemetry: Modified 47 times in the last 6 months.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Historical Regression Rate: 23% of previous modifications introduced defects.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Predictive Warning: 'Fragile file pattern detected. Additional security review recommended.'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755648"/>
            <a:ext cx="2962656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Step 3: Ownership &amp; Clearance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</a:defRPr>
            </a:pPr>
            <a:r>
              <a:t>RESOLUTION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Ownership Analysis: Original architect (@dave) is inactive; @alice holds 67% ownership.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Review Assigned: Automatic ping to active primary maintainers.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Merge Clearance: Team generates superseding ADR-048, updates DDI, and unlocks 96% readiness score.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Architecture remains 100% documented upon merge.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FULL-LIFECYCLE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Agile Alignment: Multi-Level Hierarchy &amp; Planning Poker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Connecting high-level business objectives directly to architecture-aware backlog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663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4800600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Multi-Level Work Hierarchy (/demo/hierarchy)</a:t>
            </a:r>
          </a:p>
          <a:p>
            <a:pPr>
              <a:spcAft>
                <a:spcPts val="800"/>
              </a:spcAft>
              <a:defRPr sz="900" b="1">
                <a:solidFill>
                  <a:srgbClr val="38BDF8"/>
                </a:solidFill>
              </a:defRPr>
            </a:pPr>
            <a:r>
              <a:t>STRATEGIC ROLLUP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Structured Strategic Alignment: Objectives -&gt; Projects -&gt; Epics -&gt; Issues -&gt; Sub-tasks.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Live Progress Rollups: Automatically calculates point completion percentages at each parent tier.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Architecture Impact Badges: Issues flagged by KAIRO's scanner display conflict warnings directly on the hierarchy tree.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Bidirectional GitHub Synchronization: Syncs issues and milestones with real-time repository commits.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Unified Visibility: Both developers and project managers view the same live architectural roadmap.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737360"/>
            <a:ext cx="51663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3952" y="1755648"/>
            <a:ext cx="4800600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Interactive Planning Poker (/demo/board)</a:t>
            </a:r>
          </a:p>
          <a:p>
            <a:pPr>
              <a:spcAft>
                <a:spcPts val="800"/>
              </a:spcAft>
              <a:defRPr sz="900" b="1">
                <a:solidFill>
                  <a:srgbClr val="2DD4BF"/>
                </a:solidFill>
              </a:defRPr>
            </a:pPr>
            <a:r>
              <a:t>TEAM CONSENSUS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Architecture-Aware Story Point Estimation: Integrated directly into the sprint board.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Fibonacci Estimation Deck: 1, 2, 3, 5, 8, 13, 21 points scale.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Simulated Team Consensus: Real-time vote collation from engineers (@aman, @shruti, @sharvari, @alex).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AI Historical Effort Benchmark: Recommends story point complexity based on historical churn and file fragility.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Instant Backlog Assignment: 1-click commitment updates sprint balances and velocity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EXPERIMENTAL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Validation &amp; Benchmark Results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Rigorous benchmarks conducted across open-source repositories and simulated testbeds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2DD4BF"/>
                </a:solidFill>
              </a:defRPr>
            </a:pPr>
            <a:r>
              <a:t>7.1x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Cross-Reference Recovery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Timeline API graph ingestion recovered 7.1x more relationships between PRs, commits, and reviews than standard regex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20240"/>
            <a:ext cx="296265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56% -&gt; 27%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Overlap Reduction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Dynamic Hub Degree Suppression prevents sweeping commits from dominating search, reducing result-set overlap by more than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737360"/>
            <a:ext cx="3328416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920240"/>
            <a:ext cx="296265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&lt; 1%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Hallucination Rejection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Verbatim-quote verification on Layer 2 decisions eliminated fabricated citations, achieving a 99%+ provenance precision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16768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41648"/>
            <a:ext cx="10351008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102595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Implementation Architecture &amp; Production Stack</a:t>
            </a:r>
          </a:p>
          <a:p>
            <a:pPr>
              <a:spcAft>
                <a:spcPts val="800"/>
              </a:spcAft>
              <a:defRPr sz="900" b="1">
                <a:solidFill>
                  <a:srgbClr val="6366F1"/>
                </a:solidFill>
              </a:defRPr>
            </a:pPr>
            <a:r>
              <a:t>ENGINEERING STACK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Backend: Python 3.13, FastAPI asynchronous REST API with Pydantic validation.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Database: PostgreSQL with pgvector extension and recursive SQL Common Table Expressions (replacing heavy Neo4j overhead).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Frontend: Next.js 16 with React 19, Tailwind CSS, and Lucide iconography for interactive SaaS exploration.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LLMOps: OpenAI-compatible proxy interface with OpenRouter free-tier LLMs (Cohere, Qwen, Llama) and content-hash caching for reproducible, rate-limit friendly inference.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</a:defRPr>
            </a:pPr>
            <a:r>
              <a:t>PROJECT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Conclusion: The Strategic Impact of KAIRO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Preserving intellectual capital and building self-reasoning software engineering ecosystems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2962656" cy="31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For Engineering Teams</a:t>
            </a:r>
          </a:p>
          <a:p>
            <a:pPr>
              <a:spcAft>
                <a:spcPts val="800"/>
              </a:spcAft>
              <a:defRPr sz="900" b="1">
                <a:solidFill>
                  <a:srgbClr val="2DD4BF"/>
                </a:solidFill>
              </a:defRPr>
            </a:pPr>
            <a:r>
              <a:t>DEVELOPER PRODUCTIVITY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Zero Knowledge Loss: Onboarding engineers immediately understand why code was written the way it is.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Safer Code Reviews: Pull request reviewers know the architectural blast radius before clicking merge.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Confidence in Refactoring: Identify fragile hotspots and outdated decisions before beginning redesigns.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Eliminates guesswork in legacy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1755648"/>
            <a:ext cx="2962656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For Engineering Leadership</a:t>
            </a:r>
          </a:p>
          <a:p>
            <a:pPr>
              <a:spcAft>
                <a:spcPts val="800"/>
              </a:spcAft>
              <a:defRPr sz="900" b="1">
                <a:solidFill>
                  <a:srgbClr val="38BDF8"/>
                </a:solidFill>
              </a:defRPr>
            </a:pPr>
            <a:r>
              <a:t>GOVERNANCE &amp; OVERSIGHT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Objective Quality Metrics: Track Decision Drift Index (DDI) and Engineering Evolution Score (EES) on executive dashboards.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Eliminate Architectural Debt: Identify divergence months before it causes critical production outages.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Auditability &amp; Compliance: Verbatim provenance provides clear paper-trails for enterprise architecture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755648"/>
            <a:ext cx="2962656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Research Contribution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</a:defRPr>
            </a:pPr>
            <a:r>
              <a:t>ACADEMIC INNOVATION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Solves Temporal Blindness: Demonstrates bitemporal intervals as the vital solution for LLMOps in codebases.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Two-Layer Trust Paradigm: Proves deterministic telemetry and probabilistic LLM outputs can coexist safely.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A New Category: Moves beyond simple issue trackers toward self-reasoning software engineering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KAIRO: Temporal Knowledge Graph Based Engineering Intelligence Platform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